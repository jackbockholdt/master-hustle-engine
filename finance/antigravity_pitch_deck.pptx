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1E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23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202</c:v>
                </c:pt>
                <c:pt idx="1">
                  <c:v>674</c:v>
                </c:pt>
                <c:pt idx="2">
                  <c:v>1313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($k)</c:v>
                </c:pt>
              </c:strCache>
            </c:strRef>
          </c:tx>
          <c:spPr>
            <a:solidFill>
              <a:srgbClr val="22D3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23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510</c:v>
                </c:pt>
                <c:pt idx="2">
                  <c:v>1097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623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623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6233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Antigravity White-Label AI Infrastructure License. $1,500/mo, resold by buyers. Figures shown are modeled projections, not a track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wedge: demand for AI is real, building is hard, buying a white-label engine is the fast path. Buyers are agencies and SaaS/digital-service founders.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is real and deployed. 9 skills across the full outbound lifecycle. Buyer rebrands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story: $1,500/mo license, buyer resells at ~$500/mo, break-even at 3 clients. Clean napkin math.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gross margin, low automated CAC, $18k ACV, conservative churn. The engine sells itself, which keeps CAC 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202k/674k/1.31M; EBITDA 78k/510k/1.10M; ending ARR 347k/909k/1.6M. Profitable Y1 after a real founder salary.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ramp: 19 -&gt; 51 -&gt; 89 ending licenses. Adds of 2/4/6 per month. Deliberately conservative.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Valuation is illustrative only. 1.6M ARR x 3.0x = 4.8M EV. Explicitly not a strategic-acquirer / big-corp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product is live, priced to resell, projections back it. Contact Jack.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8686800" y="-1097280"/>
            <a:ext cx="5029200" cy="5029200"/>
          </a:xfrm>
          <a:prstGeom prst="roundRect">
            <a:avLst>
              <a:gd name="adj" fmla="val 7273"/>
            </a:avLst>
          </a:prstGeom>
          <a:solidFill>
            <a:srgbClr val="1E3A5F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9692640" y="-365760"/>
            <a:ext cx="3840480" cy="3840480"/>
          </a:xfrm>
          <a:prstGeom prst="roundRect">
            <a:avLst>
              <a:gd name="adj" fmla="val 9524"/>
            </a:avLst>
          </a:prstGeom>
          <a:solidFill>
            <a:srgbClr val="22D3A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74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22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ANTIGRAVITY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2286000"/>
            <a:ext cx="9601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White-Label AI Infrastructure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resold AI sales engine — licensed at $1,500/month.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50292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$1,500/mo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5532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price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520440" y="50292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$1.6M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520440" y="5532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Year-3 ARR (modeled)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309360" y="50292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~93%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309360" y="5532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098280" y="50292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$4.8M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9098280" y="5532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EV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6309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C7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financial projections — see disclaimer.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agency wants AI. Almost none can build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3172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331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is here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3749040"/>
            <a:ext cx="2926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agencies and SaaS founders are being asked for AI-driven outreach, qualification, and automation by their own clients — now.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33172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331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6344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is hard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663440" y="3749040"/>
            <a:ext cx="2926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AI sales engine means models, deliverability, billing, data plumbing, and constant upkeep. Most teams can't spare the months.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96596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331720"/>
            <a:ext cx="685800" cy="685800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2331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6676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is faster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66760" y="3749040"/>
            <a:ext cx="2926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white-label license lets them offer it today under their own brand — no engineering, no model risk, no infrastructure to run.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9-skill AI engine your buyer resells as their own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4480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Antigravity is a live, deployed engine that scrapes leads, qualifies them, generates a tailored pitch, and sends it — then runs the follow-up sequence automatically. Buyers white-label the whole thing.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40680" y="1965960"/>
            <a:ext cx="2971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23560" y="2148840"/>
            <a:ext cx="292608" cy="292608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7" name="Text 5"/>
          <p:cNvSpPr/>
          <p:nvPr/>
        </p:nvSpPr>
        <p:spPr>
          <a:xfrm>
            <a:off x="6062472" y="1965960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scraping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41080" y="1965960"/>
            <a:ext cx="2971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0" y="2148840"/>
            <a:ext cx="292608" cy="292608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10" name="Text 8"/>
          <p:cNvSpPr/>
          <p:nvPr/>
        </p:nvSpPr>
        <p:spPr>
          <a:xfrm>
            <a:off x="9262872" y="1965960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40680" y="2807208"/>
            <a:ext cx="2971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623560" y="2990088"/>
            <a:ext cx="292608" cy="292608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13" name="Text 11"/>
          <p:cNvSpPr/>
          <p:nvPr/>
        </p:nvSpPr>
        <p:spPr>
          <a:xfrm>
            <a:off x="6062472" y="2807208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pitch copy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641080" y="2807208"/>
            <a:ext cx="2971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823960" y="2990088"/>
            <a:ext cx="292608" cy="292608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16" name="Text 14"/>
          <p:cNvSpPr/>
          <p:nvPr/>
        </p:nvSpPr>
        <p:spPr>
          <a:xfrm>
            <a:off x="9262872" y="2807208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delivery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40680" y="3648456"/>
            <a:ext cx="2971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23560" y="3831336"/>
            <a:ext cx="292608" cy="292608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19" name="Text 17"/>
          <p:cNvSpPr/>
          <p:nvPr/>
        </p:nvSpPr>
        <p:spPr>
          <a:xfrm>
            <a:off x="6062472" y="3648456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sequences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641080" y="3648456"/>
            <a:ext cx="2971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823960" y="3831336"/>
            <a:ext cx="292608" cy="292608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22" name="Text 20"/>
          <p:cNvSpPr/>
          <p:nvPr/>
        </p:nvSpPr>
        <p:spPr>
          <a:xfrm>
            <a:off x="9262872" y="3648456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Opt-out / compliance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40680" y="4489704"/>
            <a:ext cx="2971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23560" y="4672584"/>
            <a:ext cx="292608" cy="292608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25" name="Text 23"/>
          <p:cNvSpPr/>
          <p:nvPr/>
        </p:nvSpPr>
        <p:spPr>
          <a:xfrm>
            <a:off x="6062472" y="4489704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health digest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641080" y="4489704"/>
            <a:ext cx="2971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823960" y="4672584"/>
            <a:ext cx="292608" cy="292608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28" name="Text 26"/>
          <p:cNvSpPr/>
          <p:nvPr/>
        </p:nvSpPr>
        <p:spPr>
          <a:xfrm>
            <a:off x="9262872" y="4489704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failover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440680" y="5330952"/>
            <a:ext cx="2971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623560" y="5513832"/>
            <a:ext cx="292608" cy="292608"/>
          </a:xfrm>
          <a:prstGeom prst="ellipse">
            <a:avLst/>
          </a:prstGeom>
          <a:solidFill>
            <a:srgbClr val="22D3A6"/>
          </a:solidFill>
          <a:ln/>
        </p:spPr>
      </p:sp>
      <p:sp>
        <p:nvSpPr>
          <p:cNvPr id="31" name="Text 29"/>
          <p:cNvSpPr/>
          <p:nvPr/>
        </p:nvSpPr>
        <p:spPr>
          <a:xfrm>
            <a:off x="6062472" y="533095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database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 today — not a concept.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so the buyer is break-even at three clients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2461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1460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$1,500</a:t>
            </a:r>
            <a:pPr algn="l" indent="0" marL="0">
              <a:buNone/>
            </a:pPr>
            <a:r>
              <a:rPr lang="en-US" sz="16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/mo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2697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licenses the engine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3950208" y="2971800"/>
            <a:ext cx="384048" cy="502920"/>
          </a:xfrm>
          <a:prstGeom prst="chevron">
            <a:avLst/>
          </a:prstGeom>
          <a:solidFill>
            <a:srgbClr val="22D3A6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0" y="2103120"/>
            <a:ext cx="32461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51460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pPr algn="l" indent="0" marL="0">
              <a:buNone/>
            </a:pPr>
            <a:r>
              <a:rPr lang="en-US" sz="16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/mo × 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17720" y="3429000"/>
            <a:ext cx="2697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resell to 3 of their own clients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653528" y="2971800"/>
            <a:ext cx="384048" cy="502920"/>
          </a:xfrm>
          <a:prstGeom prst="chevron">
            <a:avLst/>
          </a:prstGeom>
          <a:solidFill>
            <a:srgbClr val="22D3A6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0" y="2103120"/>
            <a:ext cx="3246120" cy="2194560"/>
          </a:xfrm>
          <a:prstGeom prst="roundRect">
            <a:avLst>
              <a:gd name="adj" fmla="val 4167"/>
            </a:avLst>
          </a:prstGeom>
          <a:solidFill>
            <a:srgbClr val="1E3A5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251460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2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Break-even</a:t>
            </a:r>
            <a:pPr algn="l" indent="0" marL="0">
              <a:buNone/>
            </a:pP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21040" y="3429000"/>
            <a:ext cx="2697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after that is margin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47091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Peer-to-peer, math-driven pricing. The buyer's upside is obvious on a napkin — which is exactly why it closes.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margins, automated acquisition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06040" cy="3063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28600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~93%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96112" y="3520440"/>
            <a:ext cx="21031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cost is API + light support; infra is near-fixed.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83280" y="1965960"/>
            <a:ext cx="2606040" cy="3063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228600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429000" y="3063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PER LICENSE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39312" y="3520440"/>
            <a:ext cx="21031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is automated outreach — not a paid sales team.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965960"/>
            <a:ext cx="2606040" cy="3063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228600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$18,000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6172200" y="3063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CONTRACT VALUE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82512" y="3520440"/>
            <a:ext cx="21031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$1,500/mo per license, billed monthly via Stripe.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0" y="1965960"/>
            <a:ext cx="2606040" cy="3063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15400" y="228600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4%/mo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8915400" y="3063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 CHURN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25712" y="3520440"/>
            <a:ext cx="21031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~39%/yr — modeled conservatively, and the biggest lever.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acquisition runs on the engine itself, every new license adds high-margin recurring revenue with modest incremental cost.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and EBITDA — modeled three-year build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65960"/>
          <a:ext cx="67665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965960"/>
            <a:ext cx="3749040" cy="4297680"/>
          </a:xfrm>
          <a:prstGeom prst="roundRect">
            <a:avLst>
              <a:gd name="adj" fmla="val 2439"/>
            </a:avLst>
          </a:prstGeom>
          <a:solidFill>
            <a:srgbClr val="0F1E33"/>
          </a:solidFill>
          <a:ln/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46720" y="2240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ARR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46720" y="2807208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418320" y="269748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$347K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8046720" y="3474720"/>
            <a:ext cx="3200400" cy="0"/>
          </a:xfrm>
          <a:prstGeom prst="line">
            <a:avLst/>
          </a:prstGeom>
          <a:noFill/>
          <a:ln w="12700">
            <a:solidFill>
              <a:srgbClr val="2A3E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0" y="3721608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418320" y="361188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$909K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046720" y="4389120"/>
            <a:ext cx="3200400" cy="0"/>
          </a:xfrm>
          <a:prstGeom prst="line">
            <a:avLst/>
          </a:prstGeom>
          <a:noFill/>
          <a:ln w="12700">
            <a:solidFill>
              <a:srgbClr val="2A3E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0" y="4636008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418320" y="452628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2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$1.60M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046720" y="553212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 Year 3: $1.69M · EBITDA-positive from Year 1 (after an $8K/mo founder draw).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GET THERE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 licenses by Year 3 — a modest, believable ramp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~19</a:t>
            </a:r>
            <a:pPr indent="0" marL="0"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licenses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60120" y="35204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new licenses / month, net of churn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01168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63440" y="26517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~51</a:t>
            </a:r>
            <a:pPr indent="0" marL="0"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licenses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663440" y="35204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new / month as referrals compound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201168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1524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6676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CA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66760" y="26517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~89</a:t>
            </a:r>
            <a:pPr indent="0" marL="0"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licenses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366760" y="35204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new / month; engine + word-of-mouth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48463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heroic assumptions: single-digit signups a month, priced in the model against ~39%/yr churn. Everything scales from a working, automated top of funnel.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2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VALUATION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$1.6M ARR engine could be worth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468880" cy="1600200"/>
          </a:xfrm>
          <a:prstGeom prst="roundRect">
            <a:avLst>
              <a:gd name="adj" fmla="val 6857"/>
            </a:avLst>
          </a:prstGeom>
          <a:solidFill>
            <a:srgbClr val="16294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$1.60M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YEAR-3 ARR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56432" y="2148840"/>
            <a:ext cx="640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9FB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261104" y="2011680"/>
            <a:ext cx="2468880" cy="1600200"/>
          </a:xfrm>
          <a:prstGeom prst="roundRect">
            <a:avLst>
              <a:gd name="adj" fmla="val 6857"/>
            </a:avLst>
          </a:prstGeom>
          <a:solidFill>
            <a:srgbClr val="16294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1104" y="22402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3.0x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261104" y="30632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MULTIPLE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94576" y="2148840"/>
            <a:ext cx="640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9FB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7699248" y="2011680"/>
            <a:ext cx="2743200" cy="1600200"/>
          </a:xfrm>
          <a:prstGeom prst="roundRect">
            <a:avLst>
              <a:gd name="adj" fmla="val 6857"/>
            </a:avLst>
          </a:prstGeom>
          <a:solidFill>
            <a:srgbClr val="22D3A6"/>
          </a:solidFill>
          <a:ln w="12700">
            <a:solidFill>
              <a:srgbClr val="22D3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9248" y="224028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$4.8M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7699248" y="3063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EV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114800"/>
            <a:ext cx="10515600" cy="1965960"/>
          </a:xfrm>
          <a:prstGeom prst="roundRect">
            <a:avLst>
              <a:gd name="adj" fmla="val 4651"/>
            </a:avLst>
          </a:prstGeom>
          <a:solidFill>
            <a:srgbClr val="16294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31596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DIRECTIONAL SANITY CHECK — NOT A PRICE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97280" y="4681728"/>
            <a:ext cx="9966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multiplies modeled Year-3 ARR by a generic private-SaaS revenue multiple. It is not an offer and not a strategic-acquirer outcome. At this scale the realistic buyer is another operator or a small roll-up, and the ~39%/yr assumed churn would pull a real multiple toward the low end. Treat it as a check on the business being built, not a valuation to bank on.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371600" y="4206240"/>
            <a:ext cx="6400800" cy="5486400"/>
          </a:xfrm>
          <a:prstGeom prst="roundRect">
            <a:avLst>
              <a:gd name="adj" fmla="val 8333"/>
            </a:avLst>
          </a:prstGeom>
          <a:solidFill>
            <a:srgbClr val="1E3A5F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2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IS ALREADY RUNNING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product, priced to resell,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math to back 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$1,500/mo license · ~93% gross margin · $1.6M modeled Year-3 ARR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4983480"/>
            <a:ext cx="3931920" cy="777240"/>
          </a:xfrm>
          <a:prstGeom prst="roundRect">
            <a:avLst>
              <a:gd name="adj" fmla="val 49412"/>
            </a:avLst>
          </a:prstGeom>
          <a:solidFill>
            <a:srgbClr val="22D3A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9834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talk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Bockholdt · jackbockholdt88@gmail.com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2026-07-23T02:33:58Z</dcterms:created>
  <dcterms:modified xsi:type="dcterms:W3CDTF">2026-07-23T02:33:58Z</dcterms:modified>
</cp:coreProperties>
</file>